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6" r:id="rId11"/>
    <p:sldId id="264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1AD9A-50C7-4F92-8E5A-7540892DB132}" type="datetimeFigureOut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DFC00-F964-4BCB-90E8-306375E77E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571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DFC00-F964-4BCB-90E8-306375E77EA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0485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168966-A06D-E91B-8AA8-6D7400681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04A3B3B-011B-F9BA-6930-69CC1EF8C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929D4F-00E1-927E-302D-2E9683AB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EB6E0-FAE4-4AFD-B1AA-DD50242A8DAD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F495E7-86DC-CD1F-2F08-AEA7F6AD2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9BCC88-D375-56F1-17CA-01CD6612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789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656B94-0779-FDA2-881E-2362FD33A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A5D868-8083-022E-7DB4-F0F3360C8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1F288A-EB50-5A51-2310-C6BC8315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8C81-CC16-4B6B-8A3A-7368BF34DBC1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4451FD-3363-598B-EB3D-1F39BA6C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2DE943-81C7-EB62-A4ED-095EB6F21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DF6DD4-14BB-AA37-9EDB-4C4E3C46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B34502-CB88-8EA7-C4A1-83FA7E8C5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E074EE-DCF6-9532-0790-A5C7FE075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E898-D24A-40A7-9DCE-811976A4AD84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1C7F92-5975-30C9-7289-80CA2B00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8BA7A8-67DC-5982-8951-28C091DD6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823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8CF6B5-9C7D-EBF2-E869-91764210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AF22AA-E343-ABCD-4EF2-CFA9889CF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4A9647-A70F-93B9-4F94-C6D20B1DD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9A48CC-163C-3DA7-5F31-3E112D1C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6084A-526E-4D6C-B740-A56BA788F2BD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73F6BD-03AB-B5E8-7D35-6D0E888E6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C101BF-05E6-04B1-17A6-7480F146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81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F38DDE-E986-097F-8FD1-CD9D482C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4B5103-2801-55C7-D501-22E6BAA5D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8C857D-7354-C61C-1C63-D723A3744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C256BA1-0338-AE26-7D2D-36B906A0D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235ADB9-611A-7BBC-1974-247234F7F1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B40240-F907-654F-C125-4A993293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2D592-134C-43D6-B4F3-B8D4FB31F2E2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193081D-D115-3D22-2A3F-E27116A5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BAB06A-2822-C4D7-B25F-F57816B1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800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E08957-CA48-288A-4E75-8AF09C4AE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E2785-2108-8910-33F5-A373DC441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7D099-335F-4734-9686-74016B287114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D8AA42-A7C2-B71C-EF72-112BC94B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4421E1-21D8-4564-5AD6-71908743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074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4FB5496-CEAB-E813-5DAA-66925348A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ADA3D-D3E2-48ED-9120-282CEC1CC799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85968DD-56B9-4273-06C5-DF42BE01B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9015F2-C3A1-FC00-281E-F9A6E80C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820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47C8A8-79BC-56A3-6B45-9A000D7C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DD4335-C0F4-E1A8-4B9C-16B18AC08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A71F555-4335-270E-D5B9-4EBF19193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1EACB2-5354-FD8D-0775-1B984CBD9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43222-6BDF-4EA4-ACCB-87CB5DAF9017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36D053-8805-8223-A649-DC7AB09C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717678-6DDD-064D-FC1B-01F4ACB8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09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95862-E771-2F52-F6B8-AA41E39AF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39B36B4-4DFF-BB1E-9F98-9E192BA48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C87694-7A62-8DFD-899C-379936997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06745E-BCC5-CCED-F20A-8DEEBF9E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8C8BE-C1D2-4BC0-BA85-5AA2480BE349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BB05E6-28B4-2616-8A4B-56F84ECAB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7DD112-107D-DB8B-493B-8E642D07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27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B9187E-8657-8B34-E0C5-0C966D874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BCB5C6-9C92-8F2B-689B-5E1574BB3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64AC82-8643-DC7C-696B-7B0E2E82A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DA6B-4CDF-44C0-BC17-0F1229EE6C59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CA8BF6-B610-BC68-F5D7-011EB0F3A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2D4804-EAFA-F2AF-703C-890C75FF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09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A6A78A9-FADD-2CEF-86BE-46E489CF4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4B5834-A19B-D5AE-4CCB-268F0629D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362A36-A164-65A9-449C-7F2D0C8B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30B5-5B68-495A-A024-F01588ABC162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F69D51-9BFE-1868-FC53-5F4497F5A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846466-1F5B-37C0-DB41-66B9CE71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241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A23F232-E71D-3825-1738-D15F84597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EE2DD9-CD59-6A88-4F8D-CBC1CE225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988999-AEF4-16C7-E2AA-A5ED4E21C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1020E-AEAA-4E8C-81A9-D4E1FC34DA5B}" type="datetime1">
              <a:rPr kumimoji="1" lang="ja-JP" altLang="en-US" smtClean="0"/>
              <a:t>2025/10/10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8761AE-77E0-C197-97DF-319C892BA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063B5A-542C-EBBA-96B2-0F3DC3B0C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5219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93728-7CAA-42EA-9058-784BD8A32D64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8879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670B85-8503-AA94-86E0-F7A6CAC94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382" y="350981"/>
            <a:ext cx="4525818" cy="563419"/>
          </a:xfrm>
        </p:spPr>
        <p:txBody>
          <a:bodyPr>
            <a:normAutofit/>
          </a:bodyPr>
          <a:lstStyle/>
          <a:p>
            <a:r>
              <a:rPr kumimoji="1" lang="ja-JP" altLang="en-US" sz="2800" dirty="0"/>
              <a:t>カッパ杯</a:t>
            </a:r>
            <a:r>
              <a:rPr kumimoji="1" lang="en-US" altLang="ja-JP" sz="2800" dirty="0"/>
              <a:t>Winter2025</a:t>
            </a:r>
            <a:r>
              <a:rPr kumimoji="1" lang="ja-JP" altLang="en-US" sz="2800" dirty="0"/>
              <a:t>企画書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5640F1B-EC8C-FAF1-A32C-779D3F90F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3128" y="5490945"/>
            <a:ext cx="9144000" cy="905308"/>
          </a:xfrm>
        </p:spPr>
        <p:txBody>
          <a:bodyPr/>
          <a:lstStyle/>
          <a:p>
            <a:pPr algn="r"/>
            <a:r>
              <a:rPr kumimoji="1" lang="ja-JP" altLang="en-US" dirty="0"/>
              <a:t>ゲームクリエイター科</a:t>
            </a:r>
            <a:r>
              <a:rPr lang="ja-JP" altLang="en-US" dirty="0"/>
              <a:t>　</a:t>
            </a:r>
            <a:r>
              <a:rPr lang="en-US" altLang="ja-JP" dirty="0"/>
              <a:t>1</a:t>
            </a:r>
            <a:r>
              <a:rPr lang="ja-JP" altLang="en-US" dirty="0"/>
              <a:t>年　</a:t>
            </a:r>
            <a:r>
              <a:rPr lang="en-US" altLang="ja-JP" dirty="0"/>
              <a:t>13</a:t>
            </a:r>
            <a:r>
              <a:rPr lang="ja-JP" altLang="en-US" dirty="0"/>
              <a:t>番</a:t>
            </a:r>
            <a:endParaRPr lang="en-US" altLang="ja-JP" dirty="0"/>
          </a:p>
          <a:p>
            <a:pPr algn="r"/>
            <a:r>
              <a:rPr kumimoji="1" lang="ja-JP" altLang="en-US" dirty="0"/>
              <a:t>竹林尚哉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8C50D36-9548-19D3-E4CC-4B8E4FED8022}"/>
              </a:ext>
            </a:extLst>
          </p:cNvPr>
          <p:cNvSpPr txBox="1"/>
          <p:nvPr/>
        </p:nvSpPr>
        <p:spPr>
          <a:xfrm>
            <a:off x="3342682" y="2921168"/>
            <a:ext cx="55066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dirty="0"/>
              <a:t>GALAXY</a:t>
            </a:r>
            <a:r>
              <a:rPr kumimoji="1" lang="ja-JP" altLang="en-US" sz="6000" dirty="0"/>
              <a:t>（仮）</a:t>
            </a:r>
          </a:p>
        </p:txBody>
      </p:sp>
    </p:spTree>
    <p:extLst>
      <p:ext uri="{BB962C8B-B14F-4D97-AF65-F5344CB8AC3E}">
        <p14:creationId xmlns:p14="http://schemas.microsoft.com/office/powerpoint/2010/main" val="251508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8BF8C9-0726-9A17-8921-F772BA05E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459182" cy="818139"/>
          </a:xfrm>
        </p:spPr>
        <p:txBody>
          <a:bodyPr/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目次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DE3945-E623-2FCD-049B-D9BB96364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027" y="2001403"/>
            <a:ext cx="9053945" cy="39840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en-US" altLang="ja-JP" sz="3200" dirty="0"/>
              <a:t>1. </a:t>
            </a:r>
            <a:r>
              <a:rPr kumimoji="1" lang="ja-JP" altLang="en-US" sz="3200" dirty="0"/>
              <a:t>プレイヤー</a:t>
            </a:r>
            <a:endParaRPr kumimoji="1"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2. </a:t>
            </a:r>
            <a:r>
              <a:rPr lang="ja-JP" altLang="en-US" sz="3200" dirty="0"/>
              <a:t>エネミー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</a:t>
            </a:r>
            <a:r>
              <a:rPr lang="en-US" altLang="ja-JP" sz="3200" dirty="0"/>
              <a:t>2-1. </a:t>
            </a:r>
            <a:r>
              <a:rPr lang="ja-JP" altLang="en-US" sz="3200" dirty="0"/>
              <a:t>クリボー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</a:t>
            </a:r>
            <a:r>
              <a:rPr lang="en-US" altLang="ja-JP" sz="3200" dirty="0"/>
              <a:t>2-2. </a:t>
            </a:r>
            <a:r>
              <a:rPr lang="ja-JP" altLang="en-US" sz="3200" dirty="0"/>
              <a:t>ノコノコ</a:t>
            </a:r>
            <a:r>
              <a:rPr lang="en-US" altLang="ja-JP" sz="3200" dirty="0"/>
              <a:t>…</a:t>
            </a:r>
            <a:r>
              <a:rPr lang="ja-JP" altLang="en-US" sz="3200" dirty="0"/>
              <a:t>一部</a:t>
            </a:r>
            <a:r>
              <a:rPr lang="en-US" altLang="ja-JP" sz="3200" b="1" dirty="0">
                <a:solidFill>
                  <a:schemeClr val="accent5"/>
                </a:solidFill>
              </a:rPr>
              <a:t>β</a:t>
            </a:r>
            <a:r>
              <a:rPr lang="ja-JP" altLang="en-US" sz="3200" b="1" dirty="0">
                <a:solidFill>
                  <a:schemeClr val="accent5"/>
                </a:solidFill>
              </a:rPr>
              <a:t>版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</a:t>
            </a:r>
            <a:r>
              <a:rPr lang="en-US" altLang="ja-JP" sz="3200" dirty="0"/>
              <a:t>2-3. </a:t>
            </a:r>
            <a:r>
              <a:rPr lang="ja-JP" altLang="en-US" sz="3200" dirty="0"/>
              <a:t>迫撃砲</a:t>
            </a:r>
            <a:r>
              <a:rPr lang="en-US" altLang="ja-JP" sz="3200" dirty="0"/>
              <a:t>…</a:t>
            </a:r>
            <a:r>
              <a:rPr lang="en-US" altLang="ja-JP" sz="3200" b="1" dirty="0">
                <a:solidFill>
                  <a:schemeClr val="accent5"/>
                </a:solidFill>
              </a:rPr>
              <a:t>β</a:t>
            </a:r>
            <a:r>
              <a:rPr lang="ja-JP" altLang="en-US" sz="3200" b="1" dirty="0">
                <a:solidFill>
                  <a:schemeClr val="accent5"/>
                </a:solidFill>
              </a:rPr>
              <a:t>版</a:t>
            </a:r>
            <a:endParaRPr lang="en-US" altLang="ja-JP" sz="3200" b="1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　</a:t>
            </a:r>
            <a:r>
              <a:rPr lang="en-US" altLang="ja-JP" sz="3200" dirty="0"/>
              <a:t>2-4. </a:t>
            </a:r>
            <a:r>
              <a:rPr lang="ja-JP" altLang="en-US" sz="3200" dirty="0"/>
              <a:t>ボス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3</a:t>
            </a:r>
            <a:r>
              <a:rPr kumimoji="1" lang="en-US" altLang="ja-JP" sz="3200" dirty="0"/>
              <a:t>. </a:t>
            </a:r>
            <a:r>
              <a:rPr kumimoji="1" lang="ja-JP" altLang="en-US" sz="3200" dirty="0"/>
              <a:t>ステージ</a:t>
            </a:r>
            <a:r>
              <a:rPr lang="en-US" altLang="ja-JP" sz="3200" dirty="0"/>
              <a:t>…</a:t>
            </a:r>
            <a:r>
              <a:rPr lang="ja-JP" altLang="en-US" sz="3200" dirty="0"/>
              <a:t>一部</a:t>
            </a:r>
            <a:r>
              <a:rPr lang="en-US" altLang="ja-JP" sz="3200" b="1" dirty="0">
                <a:solidFill>
                  <a:schemeClr val="accent5"/>
                </a:solidFill>
              </a:rPr>
              <a:t>β</a:t>
            </a:r>
            <a:r>
              <a:rPr lang="ja-JP" altLang="en-US" sz="3200" b="1" dirty="0">
                <a:solidFill>
                  <a:schemeClr val="accent5"/>
                </a:solidFill>
              </a:rPr>
              <a:t>版</a:t>
            </a:r>
            <a:endParaRPr kumimoji="1"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4. UI</a:t>
            </a:r>
            <a:endParaRPr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17C627-A908-C5BB-1185-BDB28AF2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92C6D0-5183-9A04-FDC2-3BBEF472D19E}"/>
              </a:ext>
            </a:extLst>
          </p:cNvPr>
          <p:cNvSpPr txBox="1"/>
          <p:nvPr/>
        </p:nvSpPr>
        <p:spPr>
          <a:xfrm>
            <a:off x="1108363" y="1183264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en-US" altLang="ja-JP" sz="2400" b="1" dirty="0">
                <a:solidFill>
                  <a:schemeClr val="accent5"/>
                </a:solidFill>
              </a:rPr>
              <a:t>β</a:t>
            </a:r>
            <a:r>
              <a:rPr kumimoji="1" lang="ja-JP" altLang="en-US" sz="2400" b="1" dirty="0">
                <a:solidFill>
                  <a:schemeClr val="accent5"/>
                </a:solidFill>
              </a:rPr>
              <a:t>版</a:t>
            </a:r>
            <a:r>
              <a:rPr kumimoji="1" lang="ja-JP" altLang="en-US" sz="2400" dirty="0"/>
              <a:t>で実装するものは識別しています。</a:t>
            </a:r>
            <a:endParaRPr lang="en-US" altLang="ja-JP" sz="2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89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6700BF4-608F-FFF4-C2E4-EE9478F31D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65" r="35008"/>
          <a:stretch>
            <a:fillRect/>
          </a:stretch>
        </p:blipFill>
        <p:spPr>
          <a:xfrm>
            <a:off x="8053443" y="1138001"/>
            <a:ext cx="3039431" cy="535487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6F7F7A1-BC3E-0428-0A4C-840ADBA7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【1.</a:t>
            </a:r>
            <a:r>
              <a:rPr kumimoji="1" lang="ja-JP" altLang="en-US" dirty="0"/>
              <a:t>プレイヤー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6D96F5-F07C-C84A-DB3F-DF1C7CA6C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400" dirty="0"/>
              <a:t>移動。</a:t>
            </a:r>
            <a:endParaRPr kumimoji="1" lang="en-US" altLang="ja-JP" sz="2400" dirty="0"/>
          </a:p>
          <a:p>
            <a:r>
              <a:rPr kumimoji="1" lang="ja-JP" altLang="en-US" sz="2400" dirty="0"/>
              <a:t>ジャンプ。</a:t>
            </a:r>
            <a:endParaRPr kumimoji="1" lang="en-US" altLang="ja-JP" sz="2400" dirty="0"/>
          </a:p>
          <a:p>
            <a:r>
              <a:rPr lang="ja-JP" altLang="en-US" sz="2400" dirty="0"/>
              <a:t>ダメージを受けたらノックバック＆一定時間無敵。</a:t>
            </a:r>
            <a:endParaRPr lang="en-US" altLang="ja-JP" sz="2400" dirty="0"/>
          </a:p>
          <a:p>
            <a:r>
              <a:rPr kumimoji="1" lang="ja-JP" altLang="en-US" sz="2400" dirty="0"/>
              <a:t>ライフは</a:t>
            </a:r>
            <a:r>
              <a:rPr kumimoji="1" lang="en-US" altLang="ja-JP" sz="2400" dirty="0"/>
              <a:t>3</a:t>
            </a:r>
            <a:r>
              <a:rPr kumimoji="1" lang="ja-JP" altLang="en-US" sz="2400" dirty="0"/>
              <a:t>。</a:t>
            </a:r>
            <a:endParaRPr kumimoji="1" lang="en-US" altLang="ja-JP" sz="2400" dirty="0"/>
          </a:p>
          <a:p>
            <a:r>
              <a:rPr lang="ja-JP" altLang="en-US" sz="2400" dirty="0"/>
              <a:t>ライフが</a:t>
            </a:r>
            <a:r>
              <a:rPr lang="en-US" altLang="ja-JP" sz="2400" dirty="0"/>
              <a:t>0</a:t>
            </a:r>
            <a:r>
              <a:rPr lang="ja-JP" altLang="en-US" sz="2400" dirty="0"/>
              <a:t>になったらゲーム終了。</a:t>
            </a:r>
            <a:endParaRPr lang="en-US" altLang="ja-JP" sz="2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31F8F9C-DE5A-3C0D-BCDC-E1B3FBE79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184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A9703-2250-5C0A-6563-AD149C70E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挿絵, 抽象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58F8179-C55A-C8F1-A4DB-A0E4A286C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922" y="3464280"/>
            <a:ext cx="2325223" cy="289206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FD6F9C9-D4C3-75D1-DC38-18972407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【2-1.</a:t>
            </a:r>
            <a:r>
              <a:rPr kumimoji="1" lang="ja-JP" altLang="en-US" dirty="0"/>
              <a:t>クリボー（仮）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653012-EA70-148E-C1A6-B5C3CED05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400" dirty="0"/>
              <a:t>移動。</a:t>
            </a:r>
            <a:endParaRPr kumimoji="1" lang="en-US" altLang="ja-JP" sz="2400" dirty="0"/>
          </a:p>
          <a:p>
            <a:r>
              <a:rPr lang="ja-JP" altLang="en-US" sz="2400" dirty="0"/>
              <a:t>プレイヤーが一定距離に近づいたら追従。</a:t>
            </a:r>
            <a:endParaRPr lang="en-US" altLang="ja-JP" sz="2400" dirty="0"/>
          </a:p>
          <a:p>
            <a:r>
              <a:rPr kumimoji="1" lang="ja-JP" altLang="en-US" sz="2400" dirty="0"/>
              <a:t>プレイヤーが横からぶつかったらダメージを与え、一定時間停止する。</a:t>
            </a:r>
            <a:endParaRPr kumimoji="1" lang="en-US" altLang="ja-JP" sz="2400" dirty="0"/>
          </a:p>
          <a:p>
            <a:r>
              <a:rPr kumimoji="1" lang="ja-JP" altLang="en-US" sz="2400" dirty="0"/>
              <a:t>踏まれたら消滅。</a:t>
            </a:r>
            <a:endParaRPr kumimoji="1" lang="en-US" altLang="ja-JP" sz="2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B18208-D223-714E-82BB-58A78C36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51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AAA0-127B-A73D-B381-FBCA571E0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8FD58F1-D3C0-F4A9-3C05-3E002620C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87" y="4493808"/>
            <a:ext cx="1734179" cy="1734179"/>
          </a:xfrm>
          <a:prstGeom prst="rect">
            <a:avLst/>
          </a:prstGeom>
        </p:spPr>
      </p:pic>
      <p:sp>
        <p:nvSpPr>
          <p:cNvPr id="16" name="矢印: 右 15">
            <a:extLst>
              <a:ext uri="{FF2B5EF4-FFF2-40B4-BE49-F238E27FC236}">
                <a16:creationId xmlns:a16="http://schemas.microsoft.com/office/drawing/2014/main" id="{1E9C8DD4-6069-362C-4777-C70D0F987E1A}"/>
              </a:ext>
            </a:extLst>
          </p:cNvPr>
          <p:cNvSpPr/>
          <p:nvPr/>
        </p:nvSpPr>
        <p:spPr>
          <a:xfrm rot="5400000">
            <a:off x="1679990" y="4069224"/>
            <a:ext cx="454371" cy="4802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50A6DB8-F2D2-3424-F22B-C6EE9C35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181436" cy="946436"/>
          </a:xfrm>
        </p:spPr>
        <p:txBody>
          <a:bodyPr/>
          <a:lstStyle/>
          <a:p>
            <a:r>
              <a:rPr kumimoji="1" lang="en-US" altLang="ja-JP" dirty="0"/>
              <a:t>【2-2.</a:t>
            </a:r>
            <a:r>
              <a:rPr lang="ja-JP" altLang="en-US" dirty="0"/>
              <a:t>ノコノコ</a:t>
            </a:r>
            <a:r>
              <a:rPr kumimoji="1" lang="ja-JP" altLang="en-US" dirty="0"/>
              <a:t>（仮）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18C3A1-ED4B-1CA7-F89F-70C75D5A0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6" name="図 5" descr="座る, 挿絵, オウム, 鳥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BFF2AF1-1E16-1743-065C-855927CE9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4" t="9805" r="19401" b="6744"/>
          <a:stretch>
            <a:fillRect/>
          </a:stretch>
        </p:blipFill>
        <p:spPr>
          <a:xfrm>
            <a:off x="1187848" y="1414122"/>
            <a:ext cx="1449287" cy="217544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7B02B9B-857F-9D81-C9A9-904081AAAB0A}"/>
              </a:ext>
            </a:extLst>
          </p:cNvPr>
          <p:cNvSpPr txBox="1"/>
          <p:nvPr/>
        </p:nvSpPr>
        <p:spPr>
          <a:xfrm>
            <a:off x="1221363" y="622798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chemeClr val="accent4"/>
                </a:solidFill>
              </a:rPr>
              <a:t>第二形態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DE47FAF-D45A-3737-991D-156A7A2FCAFD}"/>
              </a:ext>
            </a:extLst>
          </p:cNvPr>
          <p:cNvSpPr txBox="1"/>
          <p:nvPr/>
        </p:nvSpPr>
        <p:spPr>
          <a:xfrm>
            <a:off x="1204605" y="358956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第一形態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98866FC-3134-7A99-C0C4-8BFA87D9C8F7}"/>
              </a:ext>
            </a:extLst>
          </p:cNvPr>
          <p:cNvSpPr/>
          <p:nvPr/>
        </p:nvSpPr>
        <p:spPr>
          <a:xfrm>
            <a:off x="3315856" y="4294505"/>
            <a:ext cx="8414326" cy="18320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b="1" u="sng" dirty="0">
                <a:solidFill>
                  <a:schemeClr val="accent4"/>
                </a:solidFill>
              </a:rPr>
              <a:t>第二形態</a:t>
            </a:r>
            <a:endParaRPr lang="en-US" altLang="ja-JP" sz="2000" b="1" u="sng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tx1"/>
                </a:solidFill>
              </a:rPr>
              <a:t>プレイヤーがぶつかると吹っ飛ぶ。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tx1"/>
                </a:solidFill>
              </a:rPr>
              <a:t>吹っ飛んだ先でキャラクター</a:t>
            </a:r>
            <a:r>
              <a:rPr lang="en-US" altLang="ja-JP" sz="2000" dirty="0">
                <a:solidFill>
                  <a:schemeClr val="tx1"/>
                </a:solidFill>
              </a:rPr>
              <a:t>or</a:t>
            </a:r>
            <a:r>
              <a:rPr lang="ja-JP" altLang="en-US" sz="2000" dirty="0">
                <a:solidFill>
                  <a:schemeClr val="tx1"/>
                </a:solidFill>
              </a:rPr>
              <a:t>オブジェクトにぶつかると爆発する。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tx1"/>
                </a:solidFill>
              </a:rPr>
              <a:t>オブジェクトに当たったら反射する。</a:t>
            </a:r>
            <a:r>
              <a:rPr lang="en-US" altLang="ja-JP" sz="2000" dirty="0">
                <a:solidFill>
                  <a:schemeClr val="tx1"/>
                </a:solidFill>
              </a:rPr>
              <a:t>…</a:t>
            </a:r>
            <a:r>
              <a:rPr lang="en-US" altLang="ja-JP" sz="2000" b="1" dirty="0">
                <a:solidFill>
                  <a:schemeClr val="accent5"/>
                </a:solidFill>
              </a:rPr>
              <a:t> β</a:t>
            </a:r>
            <a:r>
              <a:rPr lang="ja-JP" altLang="en-US" sz="2000" b="1" dirty="0">
                <a:solidFill>
                  <a:schemeClr val="accent5"/>
                </a:solidFill>
              </a:rPr>
              <a:t>版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357D219-9045-90DF-C186-4609FB973F52}"/>
              </a:ext>
            </a:extLst>
          </p:cNvPr>
          <p:cNvSpPr/>
          <p:nvPr/>
        </p:nvSpPr>
        <p:spPr>
          <a:xfrm>
            <a:off x="3315855" y="1411344"/>
            <a:ext cx="8414326" cy="18320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b="1" u="sng" dirty="0">
                <a:solidFill>
                  <a:srgbClr val="FF0000"/>
                </a:solidFill>
              </a:rPr>
              <a:t>第一形態</a:t>
            </a:r>
            <a:endParaRPr lang="en-US" altLang="ja-JP" sz="2000" b="1" u="sng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tx1"/>
                </a:solidFill>
              </a:rPr>
              <a:t>移動。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tx1"/>
                </a:solidFill>
              </a:rPr>
              <a:t>プレイヤーが一定距離に近づいたら逃走。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tx1"/>
                </a:solidFill>
              </a:rPr>
              <a:t>プレイヤーが横からぶつかったらダメージを与える。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20" name="矢印: 下 19">
            <a:extLst>
              <a:ext uri="{FF2B5EF4-FFF2-40B4-BE49-F238E27FC236}">
                <a16:creationId xmlns:a16="http://schemas.microsoft.com/office/drawing/2014/main" id="{0B13C7AC-0576-9133-5F33-CD7398A481C8}"/>
              </a:ext>
            </a:extLst>
          </p:cNvPr>
          <p:cNvSpPr/>
          <p:nvPr/>
        </p:nvSpPr>
        <p:spPr>
          <a:xfrm>
            <a:off x="5522581" y="3382156"/>
            <a:ext cx="4000873" cy="773545"/>
          </a:xfrm>
          <a:prstGeom prst="downArrow">
            <a:avLst>
              <a:gd name="adj1" fmla="val 66260"/>
              <a:gd name="adj2" fmla="val 47612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000" dirty="0">
              <a:solidFill>
                <a:schemeClr val="tx1"/>
              </a:solidFill>
            </a:endParaRPr>
          </a:p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踏まれたら形態変化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algn="ctr"/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42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1434A-DF36-D01F-6B98-33F3A6FCA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8495D4E-0E2C-B31D-5D40-5D317233E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272746" y="3127803"/>
            <a:ext cx="3365072" cy="336507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9F2C287-E01E-011E-0A49-4FAA84E1D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【2-</a:t>
            </a:r>
            <a:r>
              <a:rPr lang="en-US" altLang="ja-JP" dirty="0"/>
              <a:t>3</a:t>
            </a:r>
            <a:r>
              <a:rPr kumimoji="1" lang="en-US" altLang="ja-JP" dirty="0"/>
              <a:t>.</a:t>
            </a:r>
            <a:r>
              <a:rPr kumimoji="1" lang="ja-JP" altLang="en-US" dirty="0"/>
              <a:t> 迫撃砲</a:t>
            </a:r>
            <a:r>
              <a:rPr kumimoji="1" lang="en-US" altLang="ja-JP" dirty="0"/>
              <a:t>】…</a:t>
            </a:r>
            <a:r>
              <a:rPr lang="en-US" altLang="ja-JP" b="1" dirty="0">
                <a:solidFill>
                  <a:schemeClr val="accent5"/>
                </a:solidFill>
              </a:rPr>
              <a:t> β</a:t>
            </a:r>
            <a:r>
              <a:rPr lang="ja-JP" altLang="en-US" b="1" dirty="0">
                <a:solidFill>
                  <a:schemeClr val="accent5"/>
                </a:solidFill>
              </a:rPr>
              <a:t>版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F75ED0-F38B-F095-FD60-0C57FE0F2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プレイヤーが近づいたら発射。</a:t>
            </a:r>
            <a:endParaRPr lang="en-US" altLang="ja-JP" sz="2400" dirty="0"/>
          </a:p>
          <a:p>
            <a:r>
              <a:rPr lang="ja-JP" altLang="en-US" sz="2400" dirty="0"/>
              <a:t>放物線の弾道で、プレイヤーに向かって着弾。</a:t>
            </a:r>
            <a:endParaRPr lang="en-US" altLang="ja-JP" sz="2400" dirty="0"/>
          </a:p>
          <a:p>
            <a:r>
              <a:rPr kumimoji="1" lang="ja-JP" altLang="en-US" sz="2400" dirty="0"/>
              <a:t>着弾時に弾が爆発。</a:t>
            </a:r>
            <a:endParaRPr kumimoji="1" lang="en-US" altLang="ja-JP" sz="2400" dirty="0"/>
          </a:p>
          <a:p>
            <a:r>
              <a:rPr lang="ja-JP" altLang="en-US" sz="2400" dirty="0"/>
              <a:t>キャラクターは爆発に巻き込まれるとダメージを受ける。</a:t>
            </a:r>
            <a:endParaRPr kumimoji="1" lang="en-US" altLang="ja-JP" sz="2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E2EC1C-9FC7-EB34-5008-335239D0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689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20E3F-B962-375F-3262-D43A8D00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挿絵, 小さい, 茶色, 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90AB4F1-031F-EDAE-899C-34FAE7696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21454" y="2411414"/>
            <a:ext cx="3962546" cy="394493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E0845C3-15B2-566A-BABA-90C34967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【2-4.</a:t>
            </a:r>
            <a:r>
              <a:rPr lang="ja-JP" altLang="en-US" dirty="0"/>
              <a:t>ボス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597691-B4BF-0300-9868-2E975605F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400" dirty="0"/>
              <a:t>移動。</a:t>
            </a:r>
            <a:endParaRPr kumimoji="1" lang="en-US" altLang="ja-JP" sz="2400" dirty="0"/>
          </a:p>
          <a:p>
            <a:r>
              <a:rPr lang="ja-JP" altLang="en-US" sz="2400" dirty="0"/>
              <a:t>プレイヤーに向かって突進する。</a:t>
            </a:r>
            <a:endParaRPr lang="en-US" altLang="ja-JP" sz="2400" dirty="0"/>
          </a:p>
          <a:p>
            <a:r>
              <a:rPr lang="ja-JP" altLang="en-US" sz="2400" dirty="0"/>
              <a:t>プレイヤーにぶつかったらダメージを与える。</a:t>
            </a:r>
            <a:endParaRPr lang="en-US" altLang="ja-JP" sz="2400" dirty="0"/>
          </a:p>
          <a:p>
            <a:r>
              <a:rPr lang="ja-JP" altLang="en-US" sz="2400" dirty="0"/>
              <a:t>ノコノコ</a:t>
            </a:r>
            <a:r>
              <a:rPr lang="en-US" altLang="ja-JP" sz="2400" dirty="0"/>
              <a:t>or</a:t>
            </a:r>
            <a:r>
              <a:rPr lang="ja-JP" altLang="en-US" sz="2400" dirty="0"/>
              <a:t>迫撃砲のみダメージを受ける。</a:t>
            </a:r>
            <a:endParaRPr lang="en-US" altLang="ja-JP" sz="2400" dirty="0"/>
          </a:p>
          <a:p>
            <a:r>
              <a:rPr lang="ja-JP" altLang="en-US" sz="2400" dirty="0"/>
              <a:t>ライフは</a:t>
            </a:r>
            <a:r>
              <a:rPr lang="en-US" altLang="ja-JP" sz="2400" dirty="0"/>
              <a:t>10</a:t>
            </a:r>
            <a:r>
              <a:rPr lang="ja-JP" altLang="en-US" sz="2400" dirty="0"/>
              <a:t>（仮）。</a:t>
            </a:r>
            <a:endParaRPr lang="en-US" altLang="ja-JP" sz="2400" dirty="0"/>
          </a:p>
          <a:p>
            <a:r>
              <a:rPr lang="ja-JP" altLang="en-US" sz="2400" dirty="0"/>
              <a:t>倒されたらゲームクリア。</a:t>
            </a:r>
            <a:endParaRPr lang="en-US" altLang="ja-JP" sz="2400" dirty="0"/>
          </a:p>
          <a:p>
            <a:endParaRPr kumimoji="1" lang="en-US" altLang="ja-JP" sz="2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10EC77-D685-04C7-4F60-B8F4DCA0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017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37F10-D8AA-6B73-AEF4-88C468CDC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BD7EDF-8EF0-EE78-7C6F-1959EB8D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【</a:t>
            </a:r>
            <a:r>
              <a:rPr lang="en-US" altLang="ja-JP" dirty="0"/>
              <a:t>3.</a:t>
            </a:r>
            <a:r>
              <a:rPr lang="ja-JP" altLang="en-US" dirty="0"/>
              <a:t>ステージ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9679EC-C0B9-B363-089C-B308676B3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764"/>
            <a:ext cx="10515600" cy="4662199"/>
          </a:xfrm>
        </p:spPr>
        <p:txBody>
          <a:bodyPr>
            <a:normAutofit/>
          </a:bodyPr>
          <a:lstStyle/>
          <a:p>
            <a:r>
              <a:rPr lang="ja-JP" altLang="en-US" sz="2400" dirty="0"/>
              <a:t>惑星は固定し、その地表をキャラクターが移動する。</a:t>
            </a:r>
            <a:endParaRPr kumimoji="1" lang="en-US" altLang="ja-JP" sz="2400" dirty="0"/>
          </a:p>
          <a:p>
            <a:r>
              <a:rPr kumimoji="1" lang="ja-JP" altLang="en-US" sz="2400" dirty="0"/>
              <a:t>惑星は</a:t>
            </a:r>
            <a:r>
              <a:rPr lang="en-US" altLang="ja-JP" sz="2400" dirty="0"/>
              <a:t>4</a:t>
            </a:r>
            <a:r>
              <a:rPr kumimoji="1" lang="ja-JP" altLang="en-US" sz="2400" dirty="0"/>
              <a:t>つ。</a:t>
            </a:r>
            <a:endParaRPr kumimoji="1" lang="en-US" altLang="ja-JP" sz="2400" dirty="0"/>
          </a:p>
          <a:p>
            <a:r>
              <a:rPr lang="ja-JP" altLang="en-US" sz="2400" dirty="0"/>
              <a:t>うち</a:t>
            </a:r>
            <a:r>
              <a:rPr lang="en-US" altLang="ja-JP" sz="2400" dirty="0"/>
              <a:t>3</a:t>
            </a:r>
            <a:r>
              <a:rPr lang="ja-JP" altLang="en-US" sz="2400" dirty="0"/>
              <a:t>つの惑星は行き来できる。</a:t>
            </a:r>
            <a:endParaRPr lang="en-US" altLang="ja-JP" sz="2400" dirty="0"/>
          </a:p>
          <a:p>
            <a:r>
              <a:rPr lang="en-US" altLang="ja-JP" sz="2400" dirty="0"/>
              <a:t>3</a:t>
            </a:r>
            <a:r>
              <a:rPr lang="ja-JP" altLang="en-US" sz="2400" dirty="0"/>
              <a:t>つの惑星で一定数のアイテムを集めたらボスの惑星に移動できる。</a:t>
            </a:r>
            <a:endParaRPr lang="en-US" altLang="ja-JP" sz="2400" dirty="0"/>
          </a:p>
          <a:p>
            <a:r>
              <a:rPr lang="ja-JP" altLang="en-US" sz="2400" dirty="0"/>
              <a:t>ボスを倒したらゲームクリア。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惑星</a:t>
            </a:r>
            <a:r>
              <a:rPr lang="en-US" altLang="ja-JP" sz="2400" dirty="0"/>
              <a:t>1</a:t>
            </a:r>
            <a:r>
              <a:rPr lang="ja-JP" altLang="en-US" sz="2400" dirty="0"/>
              <a:t>はクリボーのみ配置。</a:t>
            </a:r>
            <a:endParaRPr lang="en-US" altLang="ja-JP" sz="2400" dirty="0"/>
          </a:p>
          <a:p>
            <a:r>
              <a:rPr lang="ja-JP" altLang="en-US" sz="2400" dirty="0"/>
              <a:t>惑星</a:t>
            </a:r>
            <a:r>
              <a:rPr lang="en-US" altLang="ja-JP" sz="2400" dirty="0"/>
              <a:t>2</a:t>
            </a:r>
            <a:r>
              <a:rPr lang="ja-JP" altLang="en-US" sz="2400" dirty="0"/>
              <a:t>はクリボー＆ノコノコを配置。</a:t>
            </a:r>
            <a:r>
              <a:rPr lang="en-US" altLang="ja-JP" sz="2400" dirty="0"/>
              <a:t> …</a:t>
            </a:r>
            <a:r>
              <a:rPr lang="en-US" altLang="ja-JP" sz="2400" b="1" dirty="0">
                <a:solidFill>
                  <a:schemeClr val="accent5"/>
                </a:solidFill>
              </a:rPr>
              <a:t> β</a:t>
            </a:r>
            <a:r>
              <a:rPr lang="ja-JP" altLang="en-US" sz="2400" b="1" dirty="0">
                <a:solidFill>
                  <a:schemeClr val="accent5"/>
                </a:solidFill>
              </a:rPr>
              <a:t>版</a:t>
            </a:r>
            <a:endParaRPr lang="en-US" altLang="ja-JP" sz="2400" dirty="0"/>
          </a:p>
          <a:p>
            <a:r>
              <a:rPr lang="ja-JP" altLang="en-US" sz="2400" dirty="0"/>
              <a:t>惑星</a:t>
            </a:r>
            <a:r>
              <a:rPr lang="en-US" altLang="ja-JP" sz="2400" dirty="0"/>
              <a:t>3</a:t>
            </a:r>
            <a:r>
              <a:rPr lang="ja-JP" altLang="en-US" sz="2400" dirty="0"/>
              <a:t>はクリボー＆ノコノコ＆迫撃砲を配置。</a:t>
            </a:r>
            <a:r>
              <a:rPr lang="en-US" altLang="ja-JP" sz="2400" dirty="0"/>
              <a:t> …</a:t>
            </a:r>
            <a:r>
              <a:rPr lang="en-US" altLang="ja-JP" sz="2400" b="1" dirty="0">
                <a:solidFill>
                  <a:schemeClr val="accent5"/>
                </a:solidFill>
              </a:rPr>
              <a:t> β</a:t>
            </a:r>
            <a:r>
              <a:rPr lang="ja-JP" altLang="en-US" sz="2400" b="1" dirty="0">
                <a:solidFill>
                  <a:schemeClr val="accent5"/>
                </a:solidFill>
              </a:rPr>
              <a:t>版</a:t>
            </a:r>
            <a:endParaRPr lang="en-US" altLang="ja-JP" sz="2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8848A7-1E17-9AEA-900A-091F0AE2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4992621-8E84-DFD4-9096-6A073843F10B}"/>
              </a:ext>
            </a:extLst>
          </p:cNvPr>
          <p:cNvSpPr/>
          <p:nvPr/>
        </p:nvSpPr>
        <p:spPr>
          <a:xfrm>
            <a:off x="8487904" y="4149799"/>
            <a:ext cx="563418" cy="554181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D229A40B-EB06-069F-7240-4FC608F679B8}"/>
              </a:ext>
            </a:extLst>
          </p:cNvPr>
          <p:cNvSpPr/>
          <p:nvPr/>
        </p:nvSpPr>
        <p:spPr>
          <a:xfrm>
            <a:off x="9921414" y="3729181"/>
            <a:ext cx="563418" cy="554181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8C8AC9B1-5411-CBBE-394F-E3C5C6896489}"/>
              </a:ext>
            </a:extLst>
          </p:cNvPr>
          <p:cNvSpPr/>
          <p:nvPr/>
        </p:nvSpPr>
        <p:spPr>
          <a:xfrm>
            <a:off x="11353800" y="4149799"/>
            <a:ext cx="563418" cy="554181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CC8E689-88A0-F666-C90F-EB60FE77D113}"/>
              </a:ext>
            </a:extLst>
          </p:cNvPr>
          <p:cNvSpPr/>
          <p:nvPr/>
        </p:nvSpPr>
        <p:spPr>
          <a:xfrm>
            <a:off x="9921414" y="5401110"/>
            <a:ext cx="563418" cy="554181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左右 12">
            <a:extLst>
              <a:ext uri="{FF2B5EF4-FFF2-40B4-BE49-F238E27FC236}">
                <a16:creationId xmlns:a16="http://schemas.microsoft.com/office/drawing/2014/main" id="{741B31E0-6571-2208-F57F-FEA2AFF10CED}"/>
              </a:ext>
            </a:extLst>
          </p:cNvPr>
          <p:cNvSpPr/>
          <p:nvPr/>
        </p:nvSpPr>
        <p:spPr>
          <a:xfrm rot="20307888">
            <a:off x="9206031" y="4100009"/>
            <a:ext cx="563418" cy="27709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左右 13">
            <a:extLst>
              <a:ext uri="{FF2B5EF4-FFF2-40B4-BE49-F238E27FC236}">
                <a16:creationId xmlns:a16="http://schemas.microsoft.com/office/drawing/2014/main" id="{B785378C-D010-C7A2-3971-593F6551ECF4}"/>
              </a:ext>
            </a:extLst>
          </p:cNvPr>
          <p:cNvSpPr/>
          <p:nvPr/>
        </p:nvSpPr>
        <p:spPr>
          <a:xfrm rot="1441065">
            <a:off x="10637607" y="4100009"/>
            <a:ext cx="563418" cy="27709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下 14">
            <a:extLst>
              <a:ext uri="{FF2B5EF4-FFF2-40B4-BE49-F238E27FC236}">
                <a16:creationId xmlns:a16="http://schemas.microsoft.com/office/drawing/2014/main" id="{C01A4138-BE74-4B10-09BF-C9794527C017}"/>
              </a:ext>
            </a:extLst>
          </p:cNvPr>
          <p:cNvSpPr/>
          <p:nvPr/>
        </p:nvSpPr>
        <p:spPr>
          <a:xfrm>
            <a:off x="9854825" y="4703979"/>
            <a:ext cx="695472" cy="4824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800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02F7-AB3F-8352-B998-8604BE2D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F35C6A-97C8-B81E-4B4D-F718B3F4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【4.UI】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5097F2-BB1E-AA6D-1DA4-CDE009FE2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6491" cy="1111539"/>
          </a:xfrm>
        </p:spPr>
        <p:txBody>
          <a:bodyPr/>
          <a:lstStyle/>
          <a:p>
            <a:r>
              <a:rPr kumimoji="1" lang="ja-JP" altLang="en-US" dirty="0"/>
              <a:t>右下にアイテムの取得数を表示。</a:t>
            </a:r>
            <a:endParaRPr kumimoji="1" lang="en-US" altLang="ja-JP" dirty="0"/>
          </a:p>
          <a:p>
            <a:r>
              <a:rPr lang="ja-JP" altLang="en-US" dirty="0"/>
              <a:t>左下にライフを表示。</a:t>
            </a:r>
            <a:r>
              <a:rPr kumimoji="1" lang="ja-JP" altLang="en-US" dirty="0"/>
              <a:t>　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0D8208-B8D3-522D-41B1-031C86548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6A8C23D-A24F-D3AD-052F-DA625391B3BD}"/>
              </a:ext>
            </a:extLst>
          </p:cNvPr>
          <p:cNvSpPr/>
          <p:nvPr/>
        </p:nvSpPr>
        <p:spPr>
          <a:xfrm>
            <a:off x="5218545" y="3186545"/>
            <a:ext cx="5098473" cy="29833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ハート 6">
            <a:extLst>
              <a:ext uri="{FF2B5EF4-FFF2-40B4-BE49-F238E27FC236}">
                <a16:creationId xmlns:a16="http://schemas.microsoft.com/office/drawing/2014/main" id="{CBA0875D-54A7-D596-33E3-391B781ACF4D}"/>
              </a:ext>
            </a:extLst>
          </p:cNvPr>
          <p:cNvSpPr/>
          <p:nvPr/>
        </p:nvSpPr>
        <p:spPr>
          <a:xfrm>
            <a:off x="5361709" y="5652655"/>
            <a:ext cx="341745" cy="304800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ハート 7">
            <a:extLst>
              <a:ext uri="{FF2B5EF4-FFF2-40B4-BE49-F238E27FC236}">
                <a16:creationId xmlns:a16="http://schemas.microsoft.com/office/drawing/2014/main" id="{F736A5E2-D520-1C6A-7559-78368515FD2F}"/>
              </a:ext>
            </a:extLst>
          </p:cNvPr>
          <p:cNvSpPr/>
          <p:nvPr/>
        </p:nvSpPr>
        <p:spPr>
          <a:xfrm>
            <a:off x="5754255" y="5657274"/>
            <a:ext cx="341745" cy="304800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ハート 8">
            <a:extLst>
              <a:ext uri="{FF2B5EF4-FFF2-40B4-BE49-F238E27FC236}">
                <a16:creationId xmlns:a16="http://schemas.microsoft.com/office/drawing/2014/main" id="{172FC459-8D72-01DB-5F01-6FC6BBCD0165}"/>
              </a:ext>
            </a:extLst>
          </p:cNvPr>
          <p:cNvSpPr/>
          <p:nvPr/>
        </p:nvSpPr>
        <p:spPr>
          <a:xfrm>
            <a:off x="6146803" y="5652655"/>
            <a:ext cx="341745" cy="304800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星: 6 pt 15">
            <a:extLst>
              <a:ext uri="{FF2B5EF4-FFF2-40B4-BE49-F238E27FC236}">
                <a16:creationId xmlns:a16="http://schemas.microsoft.com/office/drawing/2014/main" id="{CECB97D2-6E2C-C901-7855-644613D081EA}"/>
              </a:ext>
            </a:extLst>
          </p:cNvPr>
          <p:cNvSpPr/>
          <p:nvPr/>
        </p:nvSpPr>
        <p:spPr>
          <a:xfrm>
            <a:off x="9449673" y="5684921"/>
            <a:ext cx="320528" cy="304800"/>
          </a:xfrm>
          <a:prstGeom prst="star6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A3EF7F4-4BDD-9255-8E6D-4BD07E515F44}"/>
              </a:ext>
            </a:extLst>
          </p:cNvPr>
          <p:cNvSpPr txBox="1"/>
          <p:nvPr/>
        </p:nvSpPr>
        <p:spPr>
          <a:xfrm>
            <a:off x="9687074" y="5652655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×3</a:t>
            </a:r>
            <a:endParaRPr kumimoji="1" lang="ja-JP" altLang="en-US" dirty="0"/>
          </a:p>
        </p:txBody>
      </p:sp>
      <p:sp>
        <p:nvSpPr>
          <p:cNvPr id="19" name="円弧 18">
            <a:extLst>
              <a:ext uri="{FF2B5EF4-FFF2-40B4-BE49-F238E27FC236}">
                <a16:creationId xmlns:a16="http://schemas.microsoft.com/office/drawing/2014/main" id="{1568B1B4-DC5D-6919-823D-604D64433DC4}"/>
              </a:ext>
            </a:extLst>
          </p:cNvPr>
          <p:cNvSpPr/>
          <p:nvPr/>
        </p:nvSpPr>
        <p:spPr>
          <a:xfrm>
            <a:off x="5218545" y="4846782"/>
            <a:ext cx="5098473" cy="2646217"/>
          </a:xfrm>
          <a:prstGeom prst="arc">
            <a:avLst>
              <a:gd name="adj1" fmla="val 10753442"/>
              <a:gd name="adj2" fmla="val 1283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8726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22A29-35AA-F11E-CF3D-31B84F5E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9C1E25-5176-9ECD-1B39-808AD047D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【4.UI】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DB7AE4-D4AF-DEA8-7F05-93F5E99C2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66891" cy="2118302"/>
          </a:xfrm>
        </p:spPr>
        <p:txBody>
          <a:bodyPr>
            <a:noAutofit/>
          </a:bodyPr>
          <a:lstStyle/>
          <a:p>
            <a:r>
              <a:rPr kumimoji="1" lang="ja-JP" altLang="en-US" sz="2000" dirty="0"/>
              <a:t>エフェクト</a:t>
            </a:r>
            <a:endParaRPr kumimoji="1" lang="en-US" altLang="ja-JP" sz="2000" dirty="0"/>
          </a:p>
          <a:p>
            <a:r>
              <a:rPr lang="en-US" altLang="ja-JP" sz="2000" dirty="0"/>
              <a:t>UI</a:t>
            </a:r>
          </a:p>
          <a:p>
            <a:r>
              <a:rPr kumimoji="1" lang="en-US" altLang="ja-JP" sz="2000" dirty="0"/>
              <a:t>BGM</a:t>
            </a:r>
            <a:r>
              <a:rPr kumimoji="1" lang="ja-JP" altLang="en-US" sz="2000" dirty="0"/>
              <a:t>・</a:t>
            </a:r>
            <a:r>
              <a:rPr kumimoji="1" lang="en-US" altLang="ja-JP" sz="2000" dirty="0"/>
              <a:t>SE</a:t>
            </a:r>
            <a:r>
              <a:rPr kumimoji="1" lang="ja-JP" altLang="en-US" sz="2000" dirty="0"/>
              <a:t>（仮</a:t>
            </a:r>
            <a:r>
              <a:rPr kumimoji="1" lang="en-US" altLang="ja-JP" sz="2000" dirty="0"/>
              <a:t>α</a:t>
            </a:r>
            <a:r>
              <a:rPr kumimoji="1" lang="ja-JP" altLang="en-US" sz="2000" dirty="0"/>
              <a:t>）</a:t>
            </a:r>
            <a:endParaRPr kumimoji="1" lang="en-US" altLang="ja-JP" sz="2000" dirty="0"/>
          </a:p>
          <a:p>
            <a:r>
              <a:rPr lang="ja-JP" altLang="en-US" sz="2000" dirty="0"/>
              <a:t>チュートリアル</a:t>
            </a:r>
            <a:r>
              <a:rPr lang="en-US" altLang="ja-JP" sz="2000" dirty="0"/>
              <a:t>β</a:t>
            </a:r>
          </a:p>
          <a:p>
            <a:r>
              <a:rPr kumimoji="1" lang="ja-JP" altLang="en-US" sz="2000" dirty="0"/>
              <a:t>タイトル、ゲームオーバー、ゲームクリア（仮</a:t>
            </a:r>
            <a:r>
              <a:rPr kumimoji="1" lang="en-US" altLang="ja-JP" sz="2000" dirty="0"/>
              <a:t>α</a:t>
            </a:r>
            <a:r>
              <a:rPr kumimoji="1" lang="ja-JP" altLang="en-US" sz="2000" dirty="0"/>
              <a:t>）</a:t>
            </a:r>
            <a:endParaRPr kumimoji="1" lang="en-US" altLang="ja-JP" sz="2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B87E3B-2DC6-ADCB-B8BD-64809FE29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623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640043-C705-9CDE-93BC-B0E1A07D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3728-7CAA-42EA-9058-784BD8A32D64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B08F96-C100-51E9-2BBF-6C7944E886EA}"/>
              </a:ext>
            </a:extLst>
          </p:cNvPr>
          <p:cNvSpPr txBox="1"/>
          <p:nvPr/>
        </p:nvSpPr>
        <p:spPr>
          <a:xfrm>
            <a:off x="831273" y="599816"/>
            <a:ext cx="25843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/>
              <a:t>【UML】</a:t>
            </a:r>
            <a:endParaRPr kumimoji="1" lang="ja-JP" altLang="en-US" sz="4400" dirty="0"/>
          </a:p>
        </p:txBody>
      </p:sp>
      <p:pic>
        <p:nvPicPr>
          <p:cNvPr id="11" name="図 10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0482B57F-E967-05AC-6701-D3118E59C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17" y="1441515"/>
            <a:ext cx="10116766" cy="470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90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421</Words>
  <Application>Microsoft Office PowerPoint</Application>
  <PresentationFormat>ワイド画面</PresentationFormat>
  <Paragraphs>82</Paragraphs>
  <Slides>11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カッパ杯Winter2025企画書</vt:lpstr>
      <vt:lpstr>【目次】</vt:lpstr>
      <vt:lpstr>【1.プレイヤー】</vt:lpstr>
      <vt:lpstr>【2-1.クリボー（仮）】</vt:lpstr>
      <vt:lpstr>【2-2.ノコノコ（仮）】</vt:lpstr>
      <vt:lpstr>【2-3. 迫撃砲】… β版</vt:lpstr>
      <vt:lpstr>【2-4.ボス】</vt:lpstr>
      <vt:lpstr>【3.ステージ】</vt:lpstr>
      <vt:lpstr>【4.UI】</vt:lpstr>
      <vt:lpstr>【4.UI】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竹林 尚哉</dc:creator>
  <cp:lastModifiedBy>竹林 尚哉</cp:lastModifiedBy>
  <cp:revision>30</cp:revision>
  <dcterms:created xsi:type="dcterms:W3CDTF">2025-10-02T02:29:08Z</dcterms:created>
  <dcterms:modified xsi:type="dcterms:W3CDTF">2025-10-10T13:07:27Z</dcterms:modified>
</cp:coreProperties>
</file>